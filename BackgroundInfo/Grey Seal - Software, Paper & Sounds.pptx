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0" r:id="rId2"/>
    <p:sldId id="271" r:id="rId3"/>
    <p:sldId id="305" r:id="rId4"/>
    <p:sldId id="313" r:id="rId5"/>
    <p:sldId id="309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FDABF-E57A-41F1-9A85-B8C6943ECD5C}" v="1" dt="2024-12-05T16:17:47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83463" autoAdjust="0"/>
  </p:normalViewPr>
  <p:slideViewPr>
    <p:cSldViewPr snapToGrid="0">
      <p:cViewPr varScale="1">
        <p:scale>
          <a:sx n="92" d="100"/>
          <a:sy n="92" d="100"/>
        </p:scale>
        <p:origin x="12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McGinley" userId="20f0480f-e1a7-4db3-9fdf-3778d5c9ce38" providerId="ADAL" clId="{083FDABF-E57A-41F1-9A85-B8C6943ECD5C}"/>
    <pc:docChg chg="modSld">
      <pc:chgData name="Brian McGinley" userId="20f0480f-e1a7-4db3-9fdf-3778d5c9ce38" providerId="ADAL" clId="{083FDABF-E57A-41F1-9A85-B8C6943ECD5C}" dt="2024-12-05T16:17:51.850" v="2"/>
      <pc:docMkLst>
        <pc:docMk/>
      </pc:docMkLst>
      <pc:sldChg chg="addSp modSp mod">
        <pc:chgData name="Brian McGinley" userId="20f0480f-e1a7-4db3-9fdf-3778d5c9ce38" providerId="ADAL" clId="{083FDABF-E57A-41F1-9A85-B8C6943ECD5C}" dt="2024-12-05T16:17:51.850" v="2"/>
        <pc:sldMkLst>
          <pc:docMk/>
          <pc:sldMk cId="847896752" sldId="309"/>
        </pc:sldMkLst>
        <pc:spChg chg="add mod">
          <ac:chgData name="Brian McGinley" userId="20f0480f-e1a7-4db3-9fdf-3778d5c9ce38" providerId="ADAL" clId="{083FDABF-E57A-41F1-9A85-B8C6943ECD5C}" dt="2024-12-05T16:17:51.850" v="2"/>
          <ac:spMkLst>
            <pc:docMk/>
            <pc:sldMk cId="847896752" sldId="309"/>
            <ac:spMk id="3" creationId="{BA935C99-7A7C-EF34-0BD7-91E45AFCDF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05F69-389F-4465-B14D-3762A8444377}" type="datetimeFigureOut">
              <a:rPr lang="es-ES" smtClean="0"/>
              <a:t>05/12/2024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1AA43-4FD8-4A0D-9319-2041EC30010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5727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err="1"/>
              <a:t>Click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icon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access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paper</a:t>
            </a: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1AA43-4FD8-4A0D-9319-2041EC30010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2678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err="1"/>
              <a:t>Click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icon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download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software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1AA43-4FD8-4A0D-9319-2041EC30010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9329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baseline="0" dirty="0" err="1">
                <a:solidFill>
                  <a:srgbClr val="000000"/>
                </a:solidFill>
                <a:latin typeface="Amasis MT Pro" panose="02040504050005020304" pitchFamily="18" charset="0"/>
              </a:rPr>
              <a:t>Rupe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masis MT Pro" panose="02040504050005020304" pitchFamily="18" charset="0"/>
              </a:rPr>
              <a:t> A and B were often emitted in succession 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Amasis MT Pro" panose="020405040500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masis MT Pro" panose="02040504050005020304" pitchFamily="18" charset="0"/>
              </a:rPr>
              <a:t>Suggested to be uttered by females during female-male social interactions (Asselin et al., 1993; McCulloch, 2000)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1AA43-4FD8-4A0D-9319-2041EC30010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7690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31AA43-4FD8-4A0D-9319-2041EC30010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5676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A11D4D-709C-A773-8222-DF987DE50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E4F277-C54C-B181-7EF3-F33A33676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E42101-F012-F8F9-AB44-F31F1DA39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4038-CBEF-4BD4-A81B-31A161BFBE59}" type="datetimeFigureOut">
              <a:rPr lang="es-ES" smtClean="0"/>
              <a:t>05/12/2024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87DB25-B5E3-69B1-201D-5E7376634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01CA57-5DFA-67CE-DFEE-805039887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E46DA-5F9F-42F4-BDBF-895C19092A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7631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E7D42E-C58B-2716-AA95-90B3AB11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68A8EF-39B4-8FB5-CBC7-38ABCCC01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365245-CAA7-634F-36EA-A723DF19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4038-CBEF-4BD4-A81B-31A161BFBE59}" type="datetimeFigureOut">
              <a:rPr lang="es-ES" smtClean="0"/>
              <a:t>05/12/2024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FA6AE9-4806-2F2A-40BD-3DF8A0327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EF89DB-1334-F3B9-1AF7-0008E345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E46DA-5F9F-42F4-BDBF-895C19092A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738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D363B-FE47-3779-C46F-B913F569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6CC73C-67FA-66D5-F8D8-76DF2AEF9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E3FDA4-7601-877E-0F43-A21211E20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4038-CBEF-4BD4-A81B-31A161BFBE59}" type="datetimeFigureOut">
              <a:rPr lang="es-ES" smtClean="0"/>
              <a:t>05/12/2024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1B7A6D-6187-5F04-6925-2E696113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3C8292-01A4-E0FD-2F28-DC404B06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E46DA-5F9F-42F4-BDBF-895C19092A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5803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59640-27FD-D802-80BD-6116A7E1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6E5C7A-E831-50EA-3F98-A000362FD6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F14E3A-B814-A9DC-817A-F5252B9C8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C8C6FD-7AE8-EF40-5C59-38283F60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4038-CBEF-4BD4-A81B-31A161BFBE59}" type="datetimeFigureOut">
              <a:rPr lang="es-ES" smtClean="0"/>
              <a:t>05/12/2024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A53709-CB9C-7E85-C616-17B5D0781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37F31F-C189-E5C4-27BC-814A3D060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E46DA-5F9F-42F4-BDBF-895C19092A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3878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4FC08-7B02-29F1-D713-0AEE25442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694388-ED8C-0B58-B66B-E21E3877D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E176C3-A2F2-F808-BCA1-B3696B8A9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4B2618-B3EA-8AEF-E159-DE1C5A7DD7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5E7D6F-991A-64FB-A225-B9F4F5A360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B636D96-0349-2DF7-6E42-6692D279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4038-CBEF-4BD4-A81B-31A161BFBE59}" type="datetimeFigureOut">
              <a:rPr lang="es-ES" smtClean="0"/>
              <a:t>05/12/2024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721D40-1945-39DC-DD51-60D7E5BD2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AFFD42-F32E-B5C1-8FF2-5062DCA2A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E46DA-5F9F-42F4-BDBF-895C19092A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8355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4C673-5F3D-F76E-3C47-DE613930F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B06DBF-73D5-9A46-53D2-10EAF3AE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4038-CBEF-4BD4-A81B-31A161BFBE59}" type="datetimeFigureOut">
              <a:rPr lang="es-ES" smtClean="0"/>
              <a:t>05/12/2024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EEA56B-336F-9A2C-A011-2AFD97E43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555208A-AF1E-058E-7EB1-90D9F6DE6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E46DA-5F9F-42F4-BDBF-895C19092A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0682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E62DC1-8528-DABF-CA01-3F231F0B6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4038-CBEF-4BD4-A81B-31A161BFBE59}" type="datetimeFigureOut">
              <a:rPr lang="es-ES" smtClean="0"/>
              <a:t>05/12/2024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88EB436-584C-0034-13A4-1666F6282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EFDBE6-515F-B1AD-C867-9AA8A7018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E46DA-5F9F-42F4-BDBF-895C19092A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6974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70785-AC77-D0A6-59B6-581208F8F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DFF866-2CFF-E46F-4958-973391246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3966E0-5F4C-9D4C-C430-E516620E5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40EB83-68B1-CDD5-3AC0-B4B6E9DC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4038-CBEF-4BD4-A81B-31A161BFBE59}" type="datetimeFigureOut">
              <a:rPr lang="es-ES" smtClean="0"/>
              <a:t>05/12/2024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62BCC9-7052-C645-A429-B7D8F46E2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D236AE-BD95-1C2A-7123-01ECB6809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E46DA-5F9F-42F4-BDBF-895C19092A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3665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F9172-C254-F1DC-E106-A9BD50679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7823666-F69B-5379-3DB8-555A571996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6E3D78-139E-17D0-918F-515D8DEC2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ED7325-BB3C-8B55-5BB2-86F0584CA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4038-CBEF-4BD4-A81B-31A161BFBE59}" type="datetimeFigureOut">
              <a:rPr lang="es-ES" smtClean="0"/>
              <a:t>05/12/2024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EEABAD-BCE2-5AF7-D935-D29301388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82096E-A3F3-047C-8279-1A9282C1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E46DA-5F9F-42F4-BDBF-895C19092A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3378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47777-4191-D027-BD9E-635340E2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F49B4D-26B9-908B-6B3A-CD9661965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D098F2-08CC-3088-F934-377D0BC1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4038-CBEF-4BD4-A81B-31A161BFBE59}" type="datetimeFigureOut">
              <a:rPr lang="es-ES" smtClean="0"/>
              <a:t>05/12/2024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70151D-8372-F751-1C55-F2937167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648F05-A504-01F9-F5A7-483BC81C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E46DA-5F9F-42F4-BDBF-895C19092A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3914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17BF23-1E72-97CC-A68E-DE22677FB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3C9F506-1CF2-2866-0D19-038F0F1A2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4FCAEB-1925-C3E0-7ED7-C18F7C6E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74038-CBEF-4BD4-A81B-31A161BFBE59}" type="datetimeFigureOut">
              <a:rPr lang="es-ES" smtClean="0"/>
              <a:t>05/12/2024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8D103B-B9CA-4DAA-0EB6-A6D0649C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726632-1331-07FB-12F5-841F27C3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E46DA-5F9F-42F4-BDBF-895C19092A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788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5A20B93-3283-012D-8912-DECEE8534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793A50-C642-8EA6-2BC9-3547A6EBE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88BE52-FCC1-56B1-5F05-9F91FC8B5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74038-CBEF-4BD4-A81B-31A161BFBE59}" type="datetimeFigureOut">
              <a:rPr lang="es-ES" smtClean="0"/>
              <a:t>05/12/2024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253E10-232A-A9F7-92F6-EC926D778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2F0A51-3CF9-0657-A2CC-3FF484E320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E46DA-5F9F-42F4-BDBF-895C19092A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88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www.mdpi.com/2629392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vensoundsoftware.com/software/raven-lit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microsoft.com/office/2007/relationships/media" Target="../media/media3.wav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8.pn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audio" Target="../media/media4.wav"/><Relationship Id="rId11" Type="http://schemas.openxmlformats.org/officeDocument/2006/relationships/image" Target="../media/image13.png"/><Relationship Id="rId5" Type="http://schemas.microsoft.com/office/2007/relationships/media" Target="../media/media4.wav"/><Relationship Id="rId10" Type="http://schemas.openxmlformats.org/officeDocument/2006/relationships/image" Target="../media/image12.png"/><Relationship Id="rId4" Type="http://schemas.openxmlformats.org/officeDocument/2006/relationships/audio" Target="../media/media3.wav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C66B36-09B8-FF4F-3B8C-627309365995}"/>
              </a:ext>
            </a:extLst>
          </p:cNvPr>
          <p:cNvSpPr txBox="1"/>
          <p:nvPr/>
        </p:nvSpPr>
        <p:spPr>
          <a:xfrm>
            <a:off x="854188" y="6233028"/>
            <a:ext cx="52418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yaizapilar.pozogalvan@research.atu.ie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Imágenes de Transparent Email Icon: descubre bancos de fotos,  ilustraciones, vectores y vídeos de 9,546 | Adobe Stock">
            <a:extLst>
              <a:ext uri="{FF2B5EF4-FFF2-40B4-BE49-F238E27FC236}">
                <a16:creationId xmlns:a16="http://schemas.microsoft.com/office/drawing/2014/main" id="{41EB9636-CF05-1BB5-A02D-4CFB45C4F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8746" b="-1"/>
          <a:stretch/>
        </p:blipFill>
        <p:spPr bwMode="auto">
          <a:xfrm>
            <a:off x="296211" y="6233028"/>
            <a:ext cx="473238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reen Humour: Seals and Walruses">
            <a:extLst>
              <a:ext uri="{FF2B5EF4-FFF2-40B4-BE49-F238E27FC236}">
                <a16:creationId xmlns:a16="http://schemas.microsoft.com/office/drawing/2014/main" id="{B5A4A17D-5C91-0535-6937-A821713A1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570" y="209801"/>
            <a:ext cx="8373762" cy="589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>
            <a:hlinkClick r:id="rId5"/>
            <a:extLst>
              <a:ext uri="{FF2B5EF4-FFF2-40B4-BE49-F238E27FC236}">
                <a16:creationId xmlns:a16="http://schemas.microsoft.com/office/drawing/2014/main" id="{A755BA0B-08C6-56B6-00B7-7E4A249520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36" y="209801"/>
            <a:ext cx="1728901" cy="74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0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2077A81B-594F-DCBE-E805-1D576B40BE6E}"/>
              </a:ext>
            </a:extLst>
          </p:cNvPr>
          <p:cNvSpPr/>
          <p:nvPr/>
        </p:nvSpPr>
        <p:spPr>
          <a:xfrm>
            <a:off x="7132720" y="520601"/>
            <a:ext cx="4856079" cy="33911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oogle Shape;663;p55">
            <a:extLst>
              <a:ext uri="{FF2B5EF4-FFF2-40B4-BE49-F238E27FC236}">
                <a16:creationId xmlns:a16="http://schemas.microsoft.com/office/drawing/2014/main" id="{B114261E-9FAD-3D75-8264-F18076EC00A6}"/>
              </a:ext>
            </a:extLst>
          </p:cNvPr>
          <p:cNvGrpSpPr/>
          <p:nvPr/>
        </p:nvGrpSpPr>
        <p:grpSpPr>
          <a:xfrm>
            <a:off x="453677" y="1859796"/>
            <a:ext cx="5900628" cy="3822077"/>
            <a:chOff x="741941" y="1602100"/>
            <a:chExt cx="3929889" cy="2893936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" name="Google Shape;664;p55">
              <a:extLst>
                <a:ext uri="{FF2B5EF4-FFF2-40B4-BE49-F238E27FC236}">
                  <a16:creationId xmlns:a16="http://schemas.microsoft.com/office/drawing/2014/main" id="{43971C81-8870-86CF-21D8-2C2A4A7F63D2}"/>
                </a:ext>
              </a:extLst>
            </p:cNvPr>
            <p:cNvSpPr/>
            <p:nvPr/>
          </p:nvSpPr>
          <p:spPr>
            <a:xfrm>
              <a:off x="2509869" y="4168024"/>
              <a:ext cx="394033" cy="321293"/>
            </a:xfrm>
            <a:custGeom>
              <a:avLst/>
              <a:gdLst/>
              <a:ahLst/>
              <a:cxnLst/>
              <a:rect l="l" t="t" r="r" b="b"/>
              <a:pathLst>
                <a:path w="24604" h="20062" extrusionOk="0">
                  <a:moveTo>
                    <a:pt x="1335" y="0"/>
                  </a:moveTo>
                  <a:lnTo>
                    <a:pt x="0" y="20061"/>
                  </a:lnTo>
                  <a:lnTo>
                    <a:pt x="24603" y="20061"/>
                  </a:lnTo>
                  <a:lnTo>
                    <a:pt x="23269" y="0"/>
                  </a:lnTo>
                  <a:close/>
                </a:path>
              </a:pathLst>
            </a:custGeom>
            <a:grpFill/>
            <a:ln w="9525" cap="flat" cmpd="sng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Google Shape;665;p55">
              <a:extLst>
                <a:ext uri="{FF2B5EF4-FFF2-40B4-BE49-F238E27FC236}">
                  <a16:creationId xmlns:a16="http://schemas.microsoft.com/office/drawing/2014/main" id="{120844B2-B9AD-30F8-60DE-57770A6C5632}"/>
                </a:ext>
              </a:extLst>
            </p:cNvPr>
            <p:cNvSpPr/>
            <p:nvPr/>
          </p:nvSpPr>
          <p:spPr>
            <a:xfrm>
              <a:off x="741941" y="1602100"/>
              <a:ext cx="3929889" cy="2587238"/>
            </a:xfrm>
            <a:custGeom>
              <a:avLst/>
              <a:gdLst/>
              <a:ahLst/>
              <a:cxnLst/>
              <a:rect l="l" t="t" r="r" b="b"/>
              <a:pathLst>
                <a:path w="245388" h="161551" extrusionOk="0">
                  <a:moveTo>
                    <a:pt x="10334" y="1"/>
                  </a:moveTo>
                  <a:cubicBezTo>
                    <a:pt x="4628" y="1"/>
                    <a:pt x="1" y="4628"/>
                    <a:pt x="1" y="10334"/>
                  </a:cubicBezTo>
                  <a:lnTo>
                    <a:pt x="1" y="151216"/>
                  </a:lnTo>
                  <a:cubicBezTo>
                    <a:pt x="1" y="156923"/>
                    <a:pt x="4628" y="161550"/>
                    <a:pt x="10334" y="161550"/>
                  </a:cubicBezTo>
                  <a:lnTo>
                    <a:pt x="235053" y="161550"/>
                  </a:lnTo>
                  <a:cubicBezTo>
                    <a:pt x="240760" y="161550"/>
                    <a:pt x="245387" y="156923"/>
                    <a:pt x="245387" y="151216"/>
                  </a:cubicBezTo>
                  <a:lnTo>
                    <a:pt x="245387" y="10334"/>
                  </a:lnTo>
                  <a:cubicBezTo>
                    <a:pt x="245387" y="4628"/>
                    <a:pt x="240760" y="1"/>
                    <a:pt x="235053" y="1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Google Shape;666;p55">
              <a:extLst>
                <a:ext uri="{FF2B5EF4-FFF2-40B4-BE49-F238E27FC236}">
                  <a16:creationId xmlns:a16="http://schemas.microsoft.com/office/drawing/2014/main" id="{9EF79084-564F-C5F4-7FC4-4351EA20832D}"/>
                </a:ext>
              </a:extLst>
            </p:cNvPr>
            <p:cNvSpPr/>
            <p:nvPr/>
          </p:nvSpPr>
          <p:spPr>
            <a:xfrm>
              <a:off x="2033165" y="4372576"/>
              <a:ext cx="1347454" cy="123460"/>
            </a:xfrm>
            <a:custGeom>
              <a:avLst/>
              <a:gdLst/>
              <a:ahLst/>
              <a:cxnLst/>
              <a:rect l="l" t="t" r="r" b="b"/>
              <a:pathLst>
                <a:path w="84137" h="7709" extrusionOk="0">
                  <a:moveTo>
                    <a:pt x="7709" y="0"/>
                  </a:moveTo>
                  <a:cubicBezTo>
                    <a:pt x="3451" y="0"/>
                    <a:pt x="1" y="3450"/>
                    <a:pt x="1" y="7708"/>
                  </a:cubicBezTo>
                  <a:lnTo>
                    <a:pt x="84137" y="7708"/>
                  </a:lnTo>
                  <a:cubicBezTo>
                    <a:pt x="84137" y="3450"/>
                    <a:pt x="80687" y="0"/>
                    <a:pt x="76429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6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4B8E67F-822E-CA0C-078E-3FE88CFCBB41}"/>
              </a:ext>
            </a:extLst>
          </p:cNvPr>
          <p:cNvSpPr txBox="1"/>
          <p:nvPr/>
        </p:nvSpPr>
        <p:spPr>
          <a:xfrm>
            <a:off x="7262798" y="557394"/>
            <a:ext cx="4603006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Raven Lite:</a:t>
            </a:r>
          </a:p>
          <a:p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Spectrograms at 2456 FFT band resolution</a:t>
            </a:r>
          </a:p>
          <a:p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Max. frequency of 4 kHz</a:t>
            </a:r>
          </a:p>
          <a:p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 resolution of 10 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Brightness and contrast adjusted depending on the file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9CB672E-8B1F-7642-2E3E-36A105A9003B}"/>
              </a:ext>
            </a:extLst>
          </p:cNvPr>
          <p:cNvSpPr txBox="1"/>
          <p:nvPr/>
        </p:nvSpPr>
        <p:spPr>
          <a:xfrm>
            <a:off x="2724106" y="6018706"/>
            <a:ext cx="16671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Raven Lite</a:t>
            </a:r>
          </a:p>
        </p:txBody>
      </p:sp>
      <p:pic>
        <p:nvPicPr>
          <p:cNvPr id="4098" name="Picture 2" descr="Raven Lite latest version - Get best Windows software">
            <a:hlinkClick r:id="rId3"/>
            <a:extLst>
              <a:ext uri="{FF2B5EF4-FFF2-40B4-BE49-F238E27FC236}">
                <a16:creationId xmlns:a16="http://schemas.microsoft.com/office/drawing/2014/main" id="{6665359D-AC4D-D967-6971-63756F8C4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76" y="5863736"/>
            <a:ext cx="769048" cy="76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B36AF0B-63A6-2CC8-21C4-ED86FC94A725}"/>
              </a:ext>
            </a:extLst>
          </p:cNvPr>
          <p:cNvSpPr txBox="1"/>
          <p:nvPr/>
        </p:nvSpPr>
        <p:spPr>
          <a:xfrm>
            <a:off x="7462700" y="6248261"/>
            <a:ext cx="4678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Average power density (dB FS/Hz)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1C4ECED-0C7C-C4AB-5182-0778B0563513}"/>
              </a:ext>
            </a:extLst>
          </p:cNvPr>
          <p:cNvSpPr txBox="1"/>
          <p:nvPr/>
        </p:nvSpPr>
        <p:spPr>
          <a:xfrm>
            <a:off x="7741642" y="4706183"/>
            <a:ext cx="4078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 and high frequency (Hz)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44C9528-81FE-B00E-97A5-F3717E19614E}"/>
              </a:ext>
            </a:extLst>
          </p:cNvPr>
          <p:cNvSpPr txBox="1"/>
          <p:nvPr/>
        </p:nvSpPr>
        <p:spPr>
          <a:xfrm>
            <a:off x="8046519" y="5220209"/>
            <a:ext cx="30914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Frequency range (Hz)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6AEB075-2DC8-D066-B788-5B85B3CE8842}"/>
              </a:ext>
            </a:extLst>
          </p:cNvPr>
          <p:cNvSpPr txBox="1"/>
          <p:nvPr/>
        </p:nvSpPr>
        <p:spPr>
          <a:xfrm>
            <a:off x="8463559" y="5734235"/>
            <a:ext cx="2336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Call duration (s)</a:t>
            </a:r>
          </a:p>
        </p:txBody>
      </p:sp>
      <p:sp>
        <p:nvSpPr>
          <p:cNvPr id="28" name="Abrir llave 27">
            <a:extLst>
              <a:ext uri="{FF2B5EF4-FFF2-40B4-BE49-F238E27FC236}">
                <a16:creationId xmlns:a16="http://schemas.microsoft.com/office/drawing/2014/main" id="{C3A1D0F1-283A-2ACA-4392-ED30202373EE}"/>
              </a:ext>
            </a:extLst>
          </p:cNvPr>
          <p:cNvSpPr/>
          <p:nvPr/>
        </p:nvSpPr>
        <p:spPr>
          <a:xfrm>
            <a:off x="6974728" y="4846432"/>
            <a:ext cx="312327" cy="1885265"/>
          </a:xfrm>
          <a:prstGeom prst="lef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8" descr="Arrow Vector - Free Downloadable Arrow Vector Graphics">
            <a:extLst>
              <a:ext uri="{FF2B5EF4-FFF2-40B4-BE49-F238E27FC236}">
                <a16:creationId xmlns:a16="http://schemas.microsoft.com/office/drawing/2014/main" id="{2A12C1EA-CF50-BE7D-A515-2C29B2E9C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2322">
            <a:off x="5995019" y="5220924"/>
            <a:ext cx="684971" cy="684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0739BB-6E64-0C20-2427-9669BB76E5C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766"/>
          <a:stretch/>
        </p:blipFill>
        <p:spPr>
          <a:xfrm>
            <a:off x="507262" y="2072547"/>
            <a:ext cx="5793457" cy="3036843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03E76E12-B587-E8F5-0EEA-D385D009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218" y="39236"/>
            <a:ext cx="4733082" cy="1325563"/>
          </a:xfrm>
        </p:spPr>
        <p:txBody>
          <a:bodyPr>
            <a:normAutofit/>
          </a:bodyPr>
          <a:lstStyle/>
          <a:p>
            <a:r>
              <a:rPr lang="es-E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s-ES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endParaRPr lang="es-E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A2F2799-A8E4-0861-EC5F-EE4C297EFC1F}"/>
              </a:ext>
            </a:extLst>
          </p:cNvPr>
          <p:cNvSpPr txBox="1"/>
          <p:nvPr/>
        </p:nvSpPr>
        <p:spPr>
          <a:xfrm>
            <a:off x="7603855" y="4104339"/>
            <a:ext cx="6145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Call Parameters (selection table)</a:t>
            </a:r>
          </a:p>
        </p:txBody>
      </p:sp>
    </p:spTree>
    <p:extLst>
      <p:ext uri="{BB962C8B-B14F-4D97-AF65-F5344CB8AC3E}">
        <p14:creationId xmlns:p14="http://schemas.microsoft.com/office/powerpoint/2010/main" val="301390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14A8BB06-0713-D6AD-50F2-8CD8403E6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92" y="1255110"/>
            <a:ext cx="3859628" cy="4144723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EFB783B7-D56D-FDC0-B2CD-66196195A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910" y="140730"/>
            <a:ext cx="4402179" cy="919723"/>
          </a:xfrm>
        </p:spPr>
        <p:txBody>
          <a:bodyPr>
            <a:normAutofit/>
          </a:bodyPr>
          <a:lstStyle/>
          <a:p>
            <a:r>
              <a:rPr lang="en-GB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How do grey seals sound?</a:t>
            </a:r>
          </a:p>
        </p:txBody>
      </p:sp>
      <p:pic>
        <p:nvPicPr>
          <p:cNvPr id="9" name="G_rupe">
            <a:hlinkClick r:id="" action="ppaction://media"/>
            <a:extLst>
              <a:ext uri="{FF2B5EF4-FFF2-40B4-BE49-F238E27FC236}">
                <a16:creationId xmlns:a16="http://schemas.microsoft.com/office/drawing/2014/main" id="{77F70294-175A-D8D8-36D0-0706666D78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77172" y="1398463"/>
            <a:ext cx="560294" cy="560294"/>
          </a:xfrm>
          <a:prstGeom prst="rect">
            <a:avLst/>
          </a:prstGeom>
        </p:spPr>
      </p:pic>
      <p:pic>
        <p:nvPicPr>
          <p:cNvPr id="10" name="Imagen 9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4A4D51E2-CAEC-73CD-E463-BFAB2DE3FD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9094" y="1922899"/>
            <a:ext cx="3859629" cy="3363757"/>
          </a:xfrm>
          <a:prstGeom prst="rect">
            <a:avLst/>
          </a:prstGeom>
        </p:spPr>
      </p:pic>
      <p:pic>
        <p:nvPicPr>
          <p:cNvPr id="11" name="Imagen 10" descr="Gráfico, Histograma&#10;&#10;Descripción generada automáticamente">
            <a:extLst>
              <a:ext uri="{FF2B5EF4-FFF2-40B4-BE49-F238E27FC236}">
                <a16:creationId xmlns:a16="http://schemas.microsoft.com/office/drawing/2014/main" id="{420F3354-F537-E220-7DF9-9E9196E63E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498" y="1868249"/>
            <a:ext cx="3793045" cy="341840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36D6B6C-92EE-4BC0-8088-0A12857892F8}"/>
              </a:ext>
            </a:extLst>
          </p:cNvPr>
          <p:cNvSpPr txBox="1"/>
          <p:nvPr/>
        </p:nvSpPr>
        <p:spPr>
          <a:xfrm>
            <a:off x="247007" y="5594490"/>
            <a:ext cx="1169798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ifferent shapes. Most of them found in series of 3 elements; however, pulses of 1-9 elements were also recorded.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mportant role of this call in the communication, territorial defense, and mating of the species (</a:t>
            </a:r>
            <a:r>
              <a:rPr lang="es-ES" sz="22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Pérez Tadeo, 2022</a:t>
            </a:r>
            <a:r>
              <a:rPr lang="es-ES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  <a:endParaRPr lang="es-E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406CEBD-9F66-546C-4717-E884A6A9CFBD}"/>
              </a:ext>
            </a:extLst>
          </p:cNvPr>
          <p:cNvSpPr txBox="1"/>
          <p:nvPr/>
        </p:nvSpPr>
        <p:spPr>
          <a:xfrm>
            <a:off x="9403271" y="829620"/>
            <a:ext cx="2449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Guttural </a:t>
            </a: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rupe</a:t>
            </a:r>
            <a:endParaRPr lang="es-E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06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74902F5C-60D2-864B-BFDA-D71B8A416D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82" y="1753092"/>
            <a:ext cx="3283254" cy="3981966"/>
          </a:xfrm>
          <a:prstGeom prst="rect">
            <a:avLst/>
          </a:prstGeom>
        </p:spPr>
      </p:pic>
      <p:pic>
        <p:nvPicPr>
          <p:cNvPr id="3" name="Imagen 2" descr="Gráfico, Histograma&#10;&#10;Descripción generada automáticamente">
            <a:extLst>
              <a:ext uri="{FF2B5EF4-FFF2-40B4-BE49-F238E27FC236}">
                <a16:creationId xmlns:a16="http://schemas.microsoft.com/office/drawing/2014/main" id="{B754DEDE-66C6-E49B-3DFF-902C39A349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6403" y="1753092"/>
            <a:ext cx="4210020" cy="4048151"/>
          </a:xfrm>
          <a:prstGeom prst="rect">
            <a:avLst/>
          </a:prstGeom>
        </p:spPr>
      </p:pic>
      <p:pic>
        <p:nvPicPr>
          <p:cNvPr id="5" name="Imagen 4" descr="Gráfico&#10;&#10;Descripción generada automáticamente">
            <a:extLst>
              <a:ext uri="{FF2B5EF4-FFF2-40B4-BE49-F238E27FC236}">
                <a16:creationId xmlns:a16="http://schemas.microsoft.com/office/drawing/2014/main" id="{07EA973F-7931-4C2A-2DFB-7B4C77D1D2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9864" y="1939342"/>
            <a:ext cx="4210020" cy="3767969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AD6A823-67C2-7A23-84FC-54A299D70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914" y="48661"/>
            <a:ext cx="4450172" cy="919723"/>
          </a:xfrm>
        </p:spPr>
        <p:txBody>
          <a:bodyPr>
            <a:normAutofit/>
          </a:bodyPr>
          <a:lstStyle/>
          <a:p>
            <a:r>
              <a:rPr lang="en-GB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How do grey seals sound?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484EBE-5882-BC9C-697D-352DF01D6954}"/>
              </a:ext>
            </a:extLst>
          </p:cNvPr>
          <p:cNvSpPr txBox="1"/>
          <p:nvPr/>
        </p:nvSpPr>
        <p:spPr>
          <a:xfrm>
            <a:off x="294183" y="6031961"/>
            <a:ext cx="36217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shape and </a:t>
            </a:r>
            <a:r>
              <a:rPr lang="en-US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2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</a:t>
            </a:r>
            <a:r>
              <a:rPr lang="en-US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sound </a:t>
            </a:r>
            <a:endParaRPr lang="es-E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5E401DF-4017-C5CD-0796-8DB32752BAC9}"/>
              </a:ext>
            </a:extLst>
          </p:cNvPr>
          <p:cNvSpPr txBox="1"/>
          <p:nvPr/>
        </p:nvSpPr>
        <p:spPr>
          <a:xfrm>
            <a:off x="4111541" y="6021977"/>
            <a:ext cx="39689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es-ES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more </a:t>
            </a:r>
            <a:r>
              <a:rPr lang="es-ES" sz="22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s-ES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s-ES" sz="22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puuu</a:t>
            </a:r>
            <a:r>
              <a:rPr lang="es-ES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s-ES" sz="22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s-ES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5B2A85C-3476-3E51-04A0-4A98E80E9B8D}"/>
              </a:ext>
            </a:extLst>
          </p:cNvPr>
          <p:cNvSpPr txBox="1"/>
          <p:nvPr/>
        </p:nvSpPr>
        <p:spPr>
          <a:xfrm>
            <a:off x="1297600" y="961146"/>
            <a:ext cx="1332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Rupe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</a:t>
            </a:r>
            <a:endParaRPr lang="es-E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AFC381F-62E4-FAB9-1397-504F40B5380F}"/>
              </a:ext>
            </a:extLst>
          </p:cNvPr>
          <p:cNvSpPr txBox="1"/>
          <p:nvPr/>
        </p:nvSpPr>
        <p:spPr>
          <a:xfrm>
            <a:off x="5232450" y="961146"/>
            <a:ext cx="1332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Rupe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</a:t>
            </a:r>
            <a:endParaRPr lang="es-E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501CDE3-27C7-D6B4-A0B2-95E4B28C0FD6}"/>
              </a:ext>
            </a:extLst>
          </p:cNvPr>
          <p:cNvSpPr txBox="1"/>
          <p:nvPr/>
        </p:nvSpPr>
        <p:spPr>
          <a:xfrm>
            <a:off x="9561746" y="961146"/>
            <a:ext cx="1332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Rupe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endParaRPr lang="es-E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47AA672-CB87-5276-B063-9B29810B5279}"/>
              </a:ext>
            </a:extLst>
          </p:cNvPr>
          <p:cNvSpPr txBox="1"/>
          <p:nvPr/>
        </p:nvSpPr>
        <p:spPr>
          <a:xfrm>
            <a:off x="8417202" y="5835179"/>
            <a:ext cx="36217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irst part like “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Rupe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A”; second part similar to “moan” </a:t>
            </a:r>
            <a:endParaRPr lang="es-E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RupeA">
            <a:hlinkClick r:id="" action="ppaction://media"/>
            <a:extLst>
              <a:ext uri="{FF2B5EF4-FFF2-40B4-BE49-F238E27FC236}">
                <a16:creationId xmlns:a16="http://schemas.microsoft.com/office/drawing/2014/main" id="{0BBD83CD-9782-818A-82F3-391CAE585B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668869" y="1939342"/>
            <a:ext cx="478725" cy="478725"/>
          </a:xfrm>
          <a:prstGeom prst="rect">
            <a:avLst/>
          </a:prstGeom>
        </p:spPr>
      </p:pic>
      <p:pic>
        <p:nvPicPr>
          <p:cNvPr id="19" name="RupeB">
            <a:hlinkClick r:id="" action="ppaction://media"/>
            <a:extLst>
              <a:ext uri="{FF2B5EF4-FFF2-40B4-BE49-F238E27FC236}">
                <a16:creationId xmlns:a16="http://schemas.microsoft.com/office/drawing/2014/main" id="{B630F85E-39FC-6184-1399-F8C7B77EBE1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991157" y="1923409"/>
            <a:ext cx="494658" cy="494658"/>
          </a:xfrm>
          <a:prstGeom prst="rect">
            <a:avLst/>
          </a:prstGeom>
        </p:spPr>
      </p:pic>
      <p:pic>
        <p:nvPicPr>
          <p:cNvPr id="20" name="RupeC">
            <a:hlinkClick r:id="" action="ppaction://media"/>
            <a:extLst>
              <a:ext uri="{FF2B5EF4-FFF2-40B4-BE49-F238E27FC236}">
                <a16:creationId xmlns:a16="http://schemas.microsoft.com/office/drawing/2014/main" id="{6D78A42B-82EE-1419-CAB7-0C233440AE98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403105" y="2196302"/>
            <a:ext cx="443530" cy="4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3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0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9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F3D67AA9-1DD1-1553-3458-3E3C2D9B3A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33" y="2570483"/>
            <a:ext cx="4504021" cy="3685662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421A53AB-39B7-C2B5-4EF3-4698EAA0E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335" y="289835"/>
            <a:ext cx="5053994" cy="919723"/>
          </a:xfrm>
        </p:spPr>
        <p:txBody>
          <a:bodyPr>
            <a:normAutofit/>
          </a:bodyPr>
          <a:lstStyle/>
          <a:p>
            <a:r>
              <a:rPr lang="en-GB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How do grey seals sound?</a:t>
            </a:r>
          </a:p>
        </p:txBody>
      </p:sp>
      <p:pic>
        <p:nvPicPr>
          <p:cNvPr id="7" name="Imagen 6" descr="Un conjunto de letras blancas en fondo azul&#10;&#10;Descripción generada automáticamente con confianza media">
            <a:extLst>
              <a:ext uri="{FF2B5EF4-FFF2-40B4-BE49-F238E27FC236}">
                <a16:creationId xmlns:a16="http://schemas.microsoft.com/office/drawing/2014/main" id="{FB53786E-01E2-C336-116F-7EDB6CCB78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4554" y="2570483"/>
            <a:ext cx="4351754" cy="354344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1B4A159-14E9-077A-B6B0-DD694C41BC04}"/>
              </a:ext>
            </a:extLst>
          </p:cNvPr>
          <p:cNvSpPr txBox="1"/>
          <p:nvPr/>
        </p:nvSpPr>
        <p:spPr>
          <a:xfrm>
            <a:off x="880751" y="1659188"/>
            <a:ext cx="2449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Moan</a:t>
            </a:r>
            <a:endParaRPr lang="es-E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FCEF115-FA79-D9CD-ACFF-3DCCC91E6137}"/>
              </a:ext>
            </a:extLst>
          </p:cNvPr>
          <p:cNvSpPr txBox="1"/>
          <p:nvPr/>
        </p:nvSpPr>
        <p:spPr>
          <a:xfrm>
            <a:off x="9210933" y="2801244"/>
            <a:ext cx="27233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ifferent shapes and frequencies. Emitted by both males and females in a social interaction context (</a:t>
            </a:r>
            <a:r>
              <a:rPr lang="en-US" sz="24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McCulloch, 2000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4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Schneider, 1974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Moan_GS">
            <a:hlinkClick r:id="" action="ppaction://media"/>
            <a:extLst>
              <a:ext uri="{FF2B5EF4-FFF2-40B4-BE49-F238E27FC236}">
                <a16:creationId xmlns:a16="http://schemas.microsoft.com/office/drawing/2014/main" id="{315FB239-4971-CA02-59AE-E6845A242E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836894" y="2801244"/>
            <a:ext cx="533035" cy="5330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935C99-7A7C-EF34-0BD7-91E45AFCDF81}"/>
              </a:ext>
            </a:extLst>
          </p:cNvPr>
          <p:cNvSpPr txBox="1"/>
          <p:nvPr/>
        </p:nvSpPr>
        <p:spPr>
          <a:xfrm>
            <a:off x="5361709" y="2120853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/>
              <a:t>5713.210902110002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4789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2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250</Words>
  <Application>Microsoft Office PowerPoint</Application>
  <PresentationFormat>Widescreen</PresentationFormat>
  <Paragraphs>39</Paragraphs>
  <Slides>5</Slides>
  <Notes>4</Notes>
  <HiddenSlides>0</HiddenSlides>
  <MMClips>5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Amasis MT Pro</vt:lpstr>
      <vt:lpstr>Arial</vt:lpstr>
      <vt:lpstr>Calibri</vt:lpstr>
      <vt:lpstr>Calibri Light</vt:lpstr>
      <vt:lpstr>Courier New</vt:lpstr>
      <vt:lpstr>Times New Roman</vt:lpstr>
      <vt:lpstr>Tema de Office</vt:lpstr>
      <vt:lpstr>PowerPoint Presentation</vt:lpstr>
      <vt:lpstr>Data Visualisation</vt:lpstr>
      <vt:lpstr>How do grey seals sound?</vt:lpstr>
      <vt:lpstr>How do grey seals sound?</vt:lpstr>
      <vt:lpstr>How do grey seals sound?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“Static Acoustic Monitoring of harbor (Phoca vitulina) and grey seals (Halichoerus grypus) in the Malin Sea: a revolutionary approach in pinniped conservation”</dc:title>
  <dc:creator>yaiza pozo galván</dc:creator>
  <cp:lastModifiedBy>Brian McGinley</cp:lastModifiedBy>
  <cp:revision>439</cp:revision>
  <dcterms:created xsi:type="dcterms:W3CDTF">2023-06-13T16:14:31Z</dcterms:created>
  <dcterms:modified xsi:type="dcterms:W3CDTF">2024-12-06T13:29:09Z</dcterms:modified>
</cp:coreProperties>
</file>